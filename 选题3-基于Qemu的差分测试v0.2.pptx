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2" r:id="rId3"/>
    <p:sldId id="264" r:id="rId4"/>
    <p:sldId id="265" r:id="rId5"/>
    <p:sldId id="273" r:id="rId6"/>
    <p:sldId id="274" r:id="rId7"/>
    <p:sldId id="269" r:id="rId8"/>
    <p:sldId id="275" r:id="rId9"/>
    <p:sldId id="276" r:id="rId10"/>
    <p:sldId id="277" r:id="rId11"/>
    <p:sldId id="278" r:id="rId12"/>
    <p:sldId id="279" r:id="rId13"/>
    <p:sldId id="280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778" y="67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9A7879-3062-F904-B946-ACD76A8DD2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C82AF65-7786-BB84-1AFA-AA24BF6CC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81F9E0-8B24-32B6-4352-2E64CB659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5FF4A-4890-417D-BD25-648B0A31539C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4C7F8A-06C4-8301-7C35-393C69667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CD46DF-3F51-6F9A-0B82-0C6781A2F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E4CA-057D-4BFC-AD80-C2B7479EEE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353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E7CD9F-B0C8-4469-F577-F44F9AC64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E1C379-A3E9-28FC-9ED1-F926F7C44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E94AB4-2146-2F7C-F588-9104D3945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5FF4A-4890-417D-BD25-648B0A31539C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AA856D-E165-5C0B-2012-BA3C10E16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98A5C7-5286-E53E-F1DE-E0D3E0BA1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E4CA-057D-4BFC-AD80-C2B7479EEE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3224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68E109-D1F9-3257-8BA3-994A1869F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59FE48-E621-9B39-ABD3-C1706513A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5BEFB4-7C7A-F686-079D-55CBF7AA4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5FF4A-4890-417D-BD25-648B0A31539C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F6E28E-B524-2DAB-B912-167C73954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06C8B8-68CE-2E4B-3297-C25BB45E9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E4CA-057D-4BFC-AD80-C2B7479EEE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7224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AF8029-FB2F-A226-C4DC-93D7C0612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D4A901-38D5-A933-E1D6-668129CA3D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7E6F38-F6A2-36A1-F67F-0B928F538F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808CBF-F551-AA2A-EBDE-20A7DE6BF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5FF4A-4890-417D-BD25-648B0A31539C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A50632-3B4C-18C9-C463-F9458236E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C77035-783E-8EDE-5AD4-A054C0813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E4CA-057D-4BFC-AD80-C2B7479EEE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9055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AAFE3A-91F5-830D-815F-0B3FC92B0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C109FA-99E6-C53D-52B8-58A232AA0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74AAAEB-2E34-2D12-D085-E142BB390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8213304-3916-646C-71AF-367C58694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301E76F-BF32-FEE4-5734-B50DB0E60E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9EE5121-C858-1A5A-6439-1F02D91BE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5FF4A-4890-417D-BD25-648B0A31539C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5E73AE2-A2F7-3EDE-C90A-AAA6E522A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B5D15D3-28DD-6A53-CE43-0B00DE037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E4CA-057D-4BFC-AD80-C2B7479EEE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6033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7E15A1-A8D7-F828-68E7-5055804FE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5F7CCF7-C92A-513D-FCCE-865A37E07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5FF4A-4890-417D-BD25-648B0A31539C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21B46BA-C8A4-3C72-96EA-11D32D0E7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30C8212-F986-DA35-05BA-185128CD4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E4CA-057D-4BFC-AD80-C2B7479EEE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321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5436B09-C420-1A40-87D4-25A2AA87B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5FF4A-4890-417D-BD25-648B0A31539C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0DB6FCD-82BF-6E82-C617-7F0210F04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2E3B07-4A17-C411-BDF3-3FBE212F7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E4CA-057D-4BFC-AD80-C2B7479EEE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69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BC80B0-A660-D664-A1C8-13CD6A501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DD797A-6F6C-7668-8847-8CD1EF14A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E2EEB67-D8A0-8FD7-E5B7-8D1A1D1BC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11BE26-6149-F45C-6C24-B14038987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5FF4A-4890-417D-BD25-648B0A31539C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5ADC35-F84F-CE54-2ADD-FA0F5F7E7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365D28C-70F7-CAA1-0D0E-9C06BEEDE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E4CA-057D-4BFC-AD80-C2B7479EEE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7577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12AAAE-79FD-CF85-B061-B96FC2BE1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0087934-91BA-A9CA-080B-D49C38BA5B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CB6AF4D-68F0-E05B-B299-24426303FE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FBDAC2-E4C1-567C-2E9C-277281C9D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5FF4A-4890-417D-BD25-648B0A31539C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3A92AC-31BA-A750-DD50-435BE9260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BB69B8-C749-17FA-0FF1-766A15EBD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E4CA-057D-4BFC-AD80-C2B7479EEE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7216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47C86A-96F1-A7E2-3BE4-90112A844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66D0A3D-C31C-BC3E-8CAF-A17C081A89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C3CDF3-8F22-2280-286C-D35731F7F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5FF4A-4890-417D-BD25-648B0A31539C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BDB4AA-F985-658A-4405-D6D9B6A3E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768233-EE26-8DB7-9A33-5AE39A358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E4CA-057D-4BFC-AD80-C2B7479EEE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781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191614A-E5AE-D49F-DA55-05767F14B4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B296D2E-AD22-C952-6966-5A51C83BF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6A4A39-26F7-48CB-D363-99E049EC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5FF4A-4890-417D-BD25-648B0A31539C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C6E724-A7AD-6BDC-A6C6-57D6453BB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870C03-8FDD-E72B-5DA3-6E5FE766C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E4CA-057D-4BFC-AD80-C2B7479EEE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557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64B7D23-2050-0C3B-5A0A-ADE1A9A78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A49BB4-EF50-4840-7F12-06C552A91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13CB6C-882C-6295-636B-7567B4BAEF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C5FF4A-4890-417D-BD25-648B0A31539C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BCE7C5-91D2-D162-EB03-B918D22855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19C929-32E6-5E3F-7096-4F74D3639E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6BE4CA-057D-4BFC-AD80-C2B7479EEE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726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4DE65A-B4D6-71B3-6C09-89924E892B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800"/>
              <a:t>选题</a:t>
            </a:r>
            <a:r>
              <a:rPr lang="en-US" altLang="zh-CN" sz="4800"/>
              <a:t>3 - </a:t>
            </a:r>
            <a:r>
              <a:rPr lang="zh-CN" altLang="en-US" sz="4800"/>
              <a:t>基于</a:t>
            </a:r>
            <a:r>
              <a:rPr lang="en-US" altLang="zh-CN" sz="4800"/>
              <a:t>Qemu</a:t>
            </a:r>
            <a:r>
              <a:rPr lang="zh-CN" altLang="en-US" sz="4800"/>
              <a:t>的差分测试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000DA00-CAC9-247F-4EAD-8EC83AA33A5A}"/>
              </a:ext>
            </a:extLst>
          </p:cNvPr>
          <p:cNvSpPr txBox="1"/>
          <p:nvPr/>
        </p:nvSpPr>
        <p:spPr>
          <a:xfrm>
            <a:off x="4385810" y="4201633"/>
            <a:ext cx="34203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/>
              <a:t>石磊 </a:t>
            </a:r>
            <a:r>
              <a:rPr lang="en-US" altLang="zh-CN" sz="2400"/>
              <a:t>/ </a:t>
            </a:r>
            <a:r>
              <a:rPr lang="zh-CN" altLang="en-US" sz="2400"/>
              <a:t>谭峻瀚</a:t>
            </a:r>
            <a:endParaRPr lang="en-US" altLang="zh-CN" sz="2400"/>
          </a:p>
          <a:p>
            <a:pPr algn="ctr"/>
            <a:r>
              <a:rPr lang="en-US" altLang="zh-CN" sz="2400"/>
              <a:t>2025.11.2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732392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02A94E9-E8D2-E3A3-E46E-D2C433CBD9C5}"/>
              </a:ext>
            </a:extLst>
          </p:cNvPr>
          <p:cNvSpPr txBox="1"/>
          <p:nvPr/>
        </p:nvSpPr>
        <p:spPr>
          <a:xfrm>
            <a:off x="335360" y="404664"/>
            <a:ext cx="79223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/>
              <a:t>背景：内核差分测试（</a:t>
            </a:r>
            <a:r>
              <a:rPr lang="en-US" altLang="zh-CN" sz="3200"/>
              <a:t>Differential testing</a:t>
            </a:r>
            <a:r>
              <a:rPr lang="zh-CN" altLang="en-US" sz="3200"/>
              <a:t>）</a:t>
            </a:r>
            <a:endParaRPr lang="en-US" altLang="zh-CN" sz="32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1944E6A-892C-CB12-1700-BCBA4AFD888E}"/>
              </a:ext>
            </a:extLst>
          </p:cNvPr>
          <p:cNvSpPr txBox="1"/>
          <p:nvPr/>
        </p:nvSpPr>
        <p:spPr>
          <a:xfrm>
            <a:off x="515380" y="1304764"/>
            <a:ext cx="104438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定义：交叉引用同一功能（或规范）的多个实现，比较它们的输出，识别差异，发现问题。</a:t>
            </a:r>
            <a:endParaRPr lang="en-US" altLang="zh-CN" sz="2000"/>
          </a:p>
          <a:p>
            <a:r>
              <a:rPr lang="zh-CN" altLang="en-US" sz="2000"/>
              <a:t>测试等效性和识别差异是差分测试的核心。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DD1DF73-3BAE-CC52-DFE1-39D0EBBE2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672" y="2276872"/>
            <a:ext cx="6240693" cy="219624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A5506F6-6D75-6B81-90F3-7FD6D2DAD40B}"/>
              </a:ext>
            </a:extLst>
          </p:cNvPr>
          <p:cNvSpPr txBox="1"/>
          <p:nvPr/>
        </p:nvSpPr>
        <p:spPr>
          <a:xfrm>
            <a:off x="544207" y="5013176"/>
            <a:ext cx="107003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在</a:t>
            </a:r>
            <a:r>
              <a:rPr lang="zh-CN" altLang="en-US" sz="2000" b="1"/>
              <a:t>内核</a:t>
            </a:r>
            <a:r>
              <a:rPr lang="zh-CN" altLang="en-US" sz="2000"/>
              <a:t>开发领域，在参考内核和目标内核上分别运行</a:t>
            </a:r>
            <a:r>
              <a:rPr lang="zh-CN" altLang="en-US" sz="2000" b="1"/>
              <a:t>相同的测试用例</a:t>
            </a:r>
            <a:r>
              <a:rPr lang="zh-CN" altLang="en-US" sz="2000"/>
              <a:t>，记录和比较输出，识别</a:t>
            </a:r>
            <a:endParaRPr lang="en-US" altLang="zh-CN" sz="2000"/>
          </a:p>
          <a:p>
            <a:r>
              <a:rPr lang="zh-CN" altLang="en-US" sz="2000"/>
              <a:t>和分析</a:t>
            </a:r>
            <a:r>
              <a:rPr lang="zh-CN" altLang="en-US" sz="2000" b="1"/>
              <a:t>差异</a:t>
            </a:r>
            <a:r>
              <a:rPr lang="zh-CN" altLang="en-US" sz="2000"/>
              <a:t>，帮助开发者快速发现和</a:t>
            </a:r>
            <a:r>
              <a:rPr lang="zh-CN" altLang="en-US" sz="2000" b="1"/>
              <a:t>定位问题</a:t>
            </a:r>
            <a:r>
              <a:rPr lang="zh-CN" altLang="en-US" sz="200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662039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9510CB1C-FABA-61EF-4948-61948BB11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64" y="444481"/>
            <a:ext cx="7772131" cy="626088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FC311E9-87DA-2916-C9BF-E1F55330A411}"/>
              </a:ext>
            </a:extLst>
          </p:cNvPr>
          <p:cNvSpPr txBox="1"/>
          <p:nvPr/>
        </p:nvSpPr>
        <p:spPr>
          <a:xfrm>
            <a:off x="335360" y="40466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/>
              <a:t>差分基于的一致性界面</a:t>
            </a:r>
            <a:endParaRPr lang="en-US" altLang="zh-CN" sz="320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8A702CC-803A-8DD0-3627-225EB4D3645D}"/>
              </a:ext>
            </a:extLst>
          </p:cNvPr>
          <p:cNvSpPr txBox="1"/>
          <p:nvPr/>
        </p:nvSpPr>
        <p:spPr>
          <a:xfrm>
            <a:off x="8760296" y="584684"/>
            <a:ext cx="31683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监控事件（</a:t>
            </a:r>
            <a:r>
              <a:rPr lang="en-US" altLang="zh-CN"/>
              <a:t>5</a:t>
            </a:r>
            <a:r>
              <a:rPr lang="zh-CN" altLang="en-US"/>
              <a:t>类）</a:t>
            </a:r>
            <a:endParaRPr lang="en-US" altLang="zh-CN"/>
          </a:p>
          <a:p>
            <a:r>
              <a:rPr lang="en-US" altLang="zh-CN"/>
              <a:t>1. </a:t>
            </a:r>
            <a:r>
              <a:rPr lang="zh-CN" altLang="en-US"/>
              <a:t>系统调用</a:t>
            </a:r>
            <a:endParaRPr lang="en-US" altLang="zh-CN"/>
          </a:p>
          <a:p>
            <a:r>
              <a:rPr lang="en-US" altLang="zh-CN"/>
              <a:t>2. </a:t>
            </a:r>
            <a:r>
              <a:rPr lang="zh-CN" altLang="en-US"/>
              <a:t>异常</a:t>
            </a:r>
            <a:r>
              <a:rPr lang="en-US" altLang="zh-CN"/>
              <a:t>(</a:t>
            </a:r>
            <a:r>
              <a:rPr lang="zh-CN" altLang="en-US"/>
              <a:t>除了系统调用</a:t>
            </a:r>
            <a:r>
              <a:rPr lang="en-US" altLang="zh-CN"/>
              <a:t>)</a:t>
            </a:r>
          </a:p>
          <a:p>
            <a:r>
              <a:rPr lang="en-US" altLang="zh-CN"/>
              <a:t>3. </a:t>
            </a:r>
            <a:r>
              <a:rPr lang="zh-CN" altLang="en-US"/>
              <a:t>信号</a:t>
            </a:r>
            <a:endParaRPr lang="en-US" altLang="zh-CN"/>
          </a:p>
          <a:p>
            <a:r>
              <a:rPr lang="en-US" altLang="zh-CN"/>
              <a:t>4. </a:t>
            </a:r>
            <a:r>
              <a:rPr lang="zh-CN" altLang="en-US"/>
              <a:t>进程</a:t>
            </a:r>
            <a:r>
              <a:rPr lang="en-US" altLang="zh-CN"/>
              <a:t>/</a:t>
            </a:r>
            <a:r>
              <a:rPr lang="zh-CN" altLang="en-US"/>
              <a:t>线程调度</a:t>
            </a:r>
            <a:endParaRPr lang="en-US" altLang="zh-CN"/>
          </a:p>
          <a:p>
            <a:r>
              <a:rPr lang="en-US" altLang="zh-CN"/>
              <a:t>5. </a:t>
            </a:r>
            <a:r>
              <a:rPr lang="zh-CN" altLang="en-US"/>
              <a:t>中断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- </a:t>
            </a:r>
            <a:r>
              <a:rPr lang="zh-CN" altLang="en-US"/>
              <a:t>前</a:t>
            </a:r>
            <a:r>
              <a:rPr lang="en-US" altLang="zh-CN"/>
              <a:t>2</a:t>
            </a:r>
            <a:r>
              <a:rPr lang="zh-CN" altLang="en-US"/>
              <a:t>种是确定性事件</a:t>
            </a:r>
            <a:endParaRPr lang="en-US" altLang="zh-CN"/>
          </a:p>
          <a:p>
            <a:r>
              <a:rPr lang="en-US" altLang="zh-CN"/>
              <a:t>- </a:t>
            </a:r>
            <a:r>
              <a:rPr lang="zh-CN" altLang="en-US"/>
              <a:t>后</a:t>
            </a:r>
            <a:r>
              <a:rPr lang="en-US" altLang="zh-CN"/>
              <a:t>3</a:t>
            </a:r>
            <a:r>
              <a:rPr lang="zh-CN" altLang="en-US"/>
              <a:t>种是随机性事件</a:t>
            </a:r>
            <a:endParaRPr lang="en-US" altLang="zh-CN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0226895-70B3-3D93-E197-ADE57BFDFCD6}"/>
              </a:ext>
            </a:extLst>
          </p:cNvPr>
          <p:cNvSpPr txBox="1"/>
          <p:nvPr/>
        </p:nvSpPr>
        <p:spPr>
          <a:xfrm>
            <a:off x="8760296" y="3537012"/>
            <a:ext cx="316835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监控级别和状态（</a:t>
            </a:r>
            <a:r>
              <a:rPr lang="en-US" altLang="zh-CN"/>
              <a:t>4</a:t>
            </a:r>
            <a:r>
              <a:rPr lang="zh-CN" altLang="en-US"/>
              <a:t>类）</a:t>
            </a:r>
            <a:endParaRPr lang="en-US" altLang="zh-CN"/>
          </a:p>
          <a:p>
            <a:r>
              <a:rPr lang="en-US" altLang="zh-CN"/>
              <a:t>1. </a:t>
            </a:r>
            <a:r>
              <a:rPr lang="zh-CN" altLang="en-US"/>
              <a:t>系统级</a:t>
            </a:r>
            <a:endParaRPr lang="en-US" altLang="zh-CN"/>
          </a:p>
          <a:p>
            <a:r>
              <a:rPr lang="en-US" altLang="zh-CN"/>
              <a:t>2. </a:t>
            </a:r>
            <a:r>
              <a:rPr lang="zh-CN" altLang="en-US"/>
              <a:t>进程级</a:t>
            </a:r>
            <a:endParaRPr lang="en-US" altLang="zh-CN"/>
          </a:p>
          <a:p>
            <a:r>
              <a:rPr lang="en-US" altLang="zh-CN"/>
              <a:t>3. </a:t>
            </a:r>
            <a:r>
              <a:rPr lang="zh-CN" altLang="en-US"/>
              <a:t>线程级</a:t>
            </a:r>
            <a:endParaRPr lang="en-US" altLang="zh-CN"/>
          </a:p>
          <a:p>
            <a:r>
              <a:rPr lang="en-US" altLang="zh-CN"/>
              <a:t>4. </a:t>
            </a:r>
            <a:r>
              <a:rPr lang="zh-CN" altLang="en-US"/>
              <a:t>模块级 </a:t>
            </a:r>
            <a:r>
              <a:rPr lang="en-US" altLang="zh-CN"/>
              <a:t>- </a:t>
            </a:r>
            <a:r>
              <a:rPr lang="zh-CN" altLang="en-US"/>
              <a:t>设备驱动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- </a:t>
            </a:r>
            <a:r>
              <a:rPr lang="zh-CN" altLang="en-US"/>
              <a:t>每一级需要关注不同的状态</a:t>
            </a:r>
            <a:endParaRPr lang="en-US" altLang="zh-CN"/>
          </a:p>
          <a:p>
            <a:r>
              <a:rPr lang="en-US" altLang="zh-CN"/>
              <a:t>- </a:t>
            </a:r>
            <a:r>
              <a:rPr lang="zh-CN" altLang="en-US"/>
              <a:t>高等级涵盖低等级状态</a:t>
            </a:r>
            <a:endParaRPr lang="en-US" altLang="zh-CN"/>
          </a:p>
          <a:p>
            <a:r>
              <a:rPr lang="en-US" altLang="zh-CN"/>
              <a:t>- </a:t>
            </a:r>
            <a:r>
              <a:rPr lang="zh-CN" altLang="en-US"/>
              <a:t>当前从进程级入手，原因：</a:t>
            </a:r>
            <a:endParaRPr lang="en-US" altLang="zh-CN"/>
          </a:p>
          <a:p>
            <a:r>
              <a:rPr lang="en-US" altLang="zh-CN"/>
              <a:t>(</a:t>
            </a:r>
            <a:r>
              <a:rPr lang="zh-CN" altLang="en-US"/>
              <a:t>系统级</a:t>
            </a:r>
            <a:r>
              <a:rPr lang="en-US" altLang="zh-CN"/>
              <a:t>: </a:t>
            </a:r>
            <a:r>
              <a:rPr lang="zh-CN" altLang="en-US"/>
              <a:t>关注的信息多且复杂</a:t>
            </a:r>
            <a:r>
              <a:rPr lang="en-US" altLang="zh-CN"/>
              <a:t>)</a:t>
            </a:r>
          </a:p>
          <a:p>
            <a:r>
              <a:rPr lang="en-US" altLang="zh-CN"/>
              <a:t>(</a:t>
            </a:r>
            <a:r>
              <a:rPr lang="zh-CN" altLang="en-US"/>
              <a:t>线程级</a:t>
            </a:r>
            <a:r>
              <a:rPr lang="en-US" altLang="zh-CN"/>
              <a:t>: </a:t>
            </a:r>
            <a:r>
              <a:rPr lang="zh-CN" altLang="en-US"/>
              <a:t>要求监控手段精细</a:t>
            </a:r>
            <a:r>
              <a:rPr lang="en-US" altLang="zh-CN"/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59BCA6E-0CD2-E3C7-6446-CC201CC61C09}"/>
              </a:ext>
            </a:extLst>
          </p:cNvPr>
          <p:cNvSpPr/>
          <p:nvPr/>
        </p:nvSpPr>
        <p:spPr>
          <a:xfrm>
            <a:off x="371364" y="2780928"/>
            <a:ext cx="7668852" cy="25202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3956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B5008D1-0E38-2989-EBB5-D3263A118310}"/>
              </a:ext>
            </a:extLst>
          </p:cNvPr>
          <p:cNvSpPr txBox="1"/>
          <p:nvPr/>
        </p:nvSpPr>
        <p:spPr>
          <a:xfrm>
            <a:off x="335360" y="260648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/>
              <a:t>差分测试的场景</a:t>
            </a:r>
            <a:endParaRPr lang="en-US" altLang="zh-CN" sz="320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E9802C0-4B38-4419-FDB4-900B0D73E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436" y="1106785"/>
            <a:ext cx="4000500" cy="574357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32E354F-304F-3048-E09C-A7D1F3F488C1}"/>
              </a:ext>
            </a:extLst>
          </p:cNvPr>
          <p:cNvSpPr txBox="1"/>
          <p:nvPr/>
        </p:nvSpPr>
        <p:spPr>
          <a:xfrm>
            <a:off x="5411924" y="1556792"/>
            <a:ext cx="5052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/>
              <a:t>相同的</a:t>
            </a:r>
            <a:r>
              <a:rPr lang="en-US" altLang="zh-CN"/>
              <a:t>RootFS</a:t>
            </a:r>
            <a:r>
              <a:rPr lang="zh-CN" altLang="en-US"/>
              <a:t>，其中包含</a:t>
            </a:r>
            <a:r>
              <a:rPr lang="en-US" altLang="zh-CN"/>
              <a:t>glibc</a:t>
            </a:r>
            <a:r>
              <a:rPr lang="zh-CN" altLang="en-US"/>
              <a:t>库和测试用例应用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3FFEC2A-6018-3363-DA4D-DFAD282C5168}"/>
              </a:ext>
            </a:extLst>
          </p:cNvPr>
          <p:cNvSpPr txBox="1"/>
          <p:nvPr/>
        </p:nvSpPr>
        <p:spPr>
          <a:xfrm>
            <a:off x="5397194" y="2771636"/>
            <a:ext cx="399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Linux</a:t>
            </a:r>
            <a:r>
              <a:rPr lang="zh-CN" altLang="en-US" b="1"/>
              <a:t>内核</a:t>
            </a:r>
            <a:r>
              <a:rPr lang="zh-CN" altLang="en-US"/>
              <a:t>和待对比的</a:t>
            </a:r>
            <a:r>
              <a:rPr lang="en-US" altLang="zh-CN" b="1"/>
              <a:t>Target</a:t>
            </a:r>
            <a:r>
              <a:rPr lang="zh-CN" altLang="en-US" b="1"/>
              <a:t>内核</a:t>
            </a:r>
            <a:endParaRPr lang="en-US" altLang="zh-CN" b="1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073FC3D-5D6E-320D-F3F4-AB3461022856}"/>
              </a:ext>
            </a:extLst>
          </p:cNvPr>
          <p:cNvSpPr txBox="1"/>
          <p:nvPr/>
        </p:nvSpPr>
        <p:spPr>
          <a:xfrm>
            <a:off x="5414967" y="3995772"/>
            <a:ext cx="4735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/>
              <a:t>经过改造的</a:t>
            </a:r>
            <a:r>
              <a:rPr lang="en-US" altLang="zh-CN" b="1"/>
              <a:t>qemu</a:t>
            </a:r>
            <a:r>
              <a:rPr lang="zh-CN" altLang="en-US" b="1"/>
              <a:t>，能够截获必要的基础信息</a:t>
            </a:r>
            <a:endParaRPr lang="en-US" altLang="zh-CN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A4A7EB9-EA31-CD95-8A30-0CDB6679A1D6}"/>
              </a:ext>
            </a:extLst>
          </p:cNvPr>
          <p:cNvSpPr txBox="1"/>
          <p:nvPr/>
        </p:nvSpPr>
        <p:spPr>
          <a:xfrm>
            <a:off x="5401988" y="497717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二进制数据文件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5654C7F-8A5D-76E2-98CD-704B852DEB07}"/>
              </a:ext>
            </a:extLst>
          </p:cNvPr>
          <p:cNvSpPr txBox="1"/>
          <p:nvPr/>
        </p:nvSpPr>
        <p:spPr>
          <a:xfrm>
            <a:off x="5385687" y="5884071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/>
              <a:t>通过工具</a:t>
            </a:r>
            <a:r>
              <a:rPr lang="zh-CN" altLang="en-US"/>
              <a:t>还原、对比和展示差异。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7C24EFF-14BB-86A7-E1C3-CA2E5F036774}"/>
              </a:ext>
            </a:extLst>
          </p:cNvPr>
          <p:cNvSpPr txBox="1"/>
          <p:nvPr/>
        </p:nvSpPr>
        <p:spPr>
          <a:xfrm>
            <a:off x="3291515" y="2708920"/>
            <a:ext cx="82426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Target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378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D43B8-0531-432E-BD95-8E6ECFE8D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0A98635-8471-05F3-04A1-452DF2A0A9A9}"/>
              </a:ext>
            </a:extLst>
          </p:cNvPr>
          <p:cNvSpPr txBox="1"/>
          <p:nvPr/>
        </p:nvSpPr>
        <p:spPr>
          <a:xfrm>
            <a:off x="335360" y="260648"/>
            <a:ext cx="28873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/>
              <a:t>题目要求</a:t>
            </a:r>
            <a:r>
              <a:rPr lang="en-US" altLang="zh-CN" sz="3200"/>
              <a:t>(</a:t>
            </a:r>
            <a:r>
              <a:rPr lang="zh-CN" altLang="en-US" sz="3200"/>
              <a:t>概述</a:t>
            </a:r>
            <a:r>
              <a:rPr lang="en-US" altLang="zh-CN" sz="3200"/>
              <a:t>)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851130A-1D44-5C05-785C-7182F3920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467" y="2452826"/>
            <a:ext cx="5991066" cy="345638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FAEE677-7A22-211A-9537-A738198D613E}"/>
              </a:ext>
            </a:extLst>
          </p:cNvPr>
          <p:cNvSpPr txBox="1"/>
          <p:nvPr/>
        </p:nvSpPr>
        <p:spPr>
          <a:xfrm>
            <a:off x="658943" y="3761164"/>
            <a:ext cx="24415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rgbClr val="C00000"/>
                </a:solidFill>
              </a:rPr>
              <a:t>A</a:t>
            </a:r>
            <a:r>
              <a:rPr lang="zh-CN" altLang="en-US" sz="2000">
                <a:solidFill>
                  <a:srgbClr val="C00000"/>
                </a:solidFill>
              </a:rPr>
              <a:t>部分</a:t>
            </a:r>
            <a:r>
              <a:rPr lang="en-US" altLang="zh-CN" sz="2000">
                <a:solidFill>
                  <a:srgbClr val="C00000"/>
                </a:solidFill>
              </a:rPr>
              <a:t>. </a:t>
            </a:r>
            <a:r>
              <a:rPr lang="zh-CN" altLang="en-US" sz="2000">
                <a:solidFill>
                  <a:srgbClr val="C00000"/>
                </a:solidFill>
              </a:rPr>
              <a:t>在</a:t>
            </a:r>
            <a:r>
              <a:rPr lang="en-US" altLang="zh-CN" sz="2000">
                <a:solidFill>
                  <a:srgbClr val="C00000"/>
                </a:solidFill>
              </a:rPr>
              <a:t>Qemu</a:t>
            </a:r>
            <a:r>
              <a:rPr lang="zh-CN" altLang="en-US" sz="2000">
                <a:solidFill>
                  <a:srgbClr val="C00000"/>
                </a:solidFill>
              </a:rPr>
              <a:t>中截获必要信息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9A3350E-B54A-0F35-CA7D-22B676CE6E52}"/>
              </a:ext>
            </a:extLst>
          </p:cNvPr>
          <p:cNvSpPr txBox="1"/>
          <p:nvPr/>
        </p:nvSpPr>
        <p:spPr>
          <a:xfrm>
            <a:off x="4943872" y="5909210"/>
            <a:ext cx="2441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C</a:t>
            </a:r>
            <a:r>
              <a:rPr lang="zh-CN" altLang="en-US" sz="2000"/>
              <a:t>部分</a:t>
            </a:r>
            <a:r>
              <a:rPr lang="en-US" altLang="zh-CN" sz="2000"/>
              <a:t>. </a:t>
            </a:r>
            <a:r>
              <a:rPr lang="zh-CN" altLang="en-US" sz="2000"/>
              <a:t>数据通道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F52A681-3967-D8D1-88D1-78D3C66DF6BF}"/>
              </a:ext>
            </a:extLst>
          </p:cNvPr>
          <p:cNvSpPr txBox="1"/>
          <p:nvPr/>
        </p:nvSpPr>
        <p:spPr>
          <a:xfrm>
            <a:off x="9228348" y="3761164"/>
            <a:ext cx="26642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B</a:t>
            </a:r>
            <a:r>
              <a:rPr lang="zh-CN" altLang="en-US" sz="2000"/>
              <a:t>部分</a:t>
            </a:r>
            <a:r>
              <a:rPr lang="en-US" altLang="zh-CN" sz="2000"/>
              <a:t>. </a:t>
            </a:r>
            <a:r>
              <a:rPr lang="zh-CN" altLang="en-US" sz="2000"/>
              <a:t>基于截获信息</a:t>
            </a:r>
            <a:r>
              <a:rPr lang="en-US" altLang="zh-CN" sz="2000"/>
              <a:t>+</a:t>
            </a:r>
            <a:r>
              <a:rPr lang="zh-CN" altLang="en-US" sz="2000"/>
              <a:t>体系结构</a:t>
            </a:r>
            <a:r>
              <a:rPr lang="en-US" altLang="zh-CN" sz="2000"/>
              <a:t>+OS</a:t>
            </a:r>
            <a:r>
              <a:rPr lang="zh-CN" altLang="en-US" sz="2000"/>
              <a:t>知识，推断和还原</a:t>
            </a:r>
            <a:r>
              <a:rPr lang="en-US" altLang="zh-CN" sz="2000"/>
              <a:t>Guest Kernel</a:t>
            </a:r>
            <a:r>
              <a:rPr lang="zh-CN" altLang="en-US" sz="2000"/>
              <a:t>中的运行情况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3144C6E-6521-AA45-CD33-F5001AD88B85}"/>
              </a:ext>
            </a:extLst>
          </p:cNvPr>
          <p:cNvSpPr txBox="1"/>
          <p:nvPr/>
        </p:nvSpPr>
        <p:spPr>
          <a:xfrm>
            <a:off x="407368" y="980728"/>
            <a:ext cx="109092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差分方案由</a:t>
            </a:r>
            <a:r>
              <a:rPr lang="en-US" altLang="zh-CN" sz="2000"/>
              <a:t>3</a:t>
            </a:r>
            <a:r>
              <a:rPr lang="zh-CN" altLang="en-US" sz="2000"/>
              <a:t>部分组成，</a:t>
            </a:r>
            <a:r>
              <a:rPr lang="en-US" altLang="zh-CN" sz="2000"/>
              <a:t>A</a:t>
            </a:r>
            <a:r>
              <a:rPr lang="zh-CN" altLang="en-US" sz="2000"/>
              <a:t>部分在</a:t>
            </a:r>
            <a:r>
              <a:rPr lang="en-US" altLang="zh-CN" sz="2000"/>
              <a:t>Qemu</a:t>
            </a:r>
            <a:r>
              <a:rPr lang="zh-CN" altLang="en-US" sz="2000"/>
              <a:t>中的负责截获信息，</a:t>
            </a:r>
            <a:r>
              <a:rPr lang="en-US" altLang="zh-CN" sz="2000"/>
              <a:t>B</a:t>
            </a:r>
            <a:r>
              <a:rPr lang="zh-CN" altLang="en-US" sz="2000"/>
              <a:t>部分作为工具负责分析还原</a:t>
            </a:r>
            <a:r>
              <a:rPr lang="en-US" altLang="zh-CN" sz="2000"/>
              <a:t>Guest</a:t>
            </a:r>
            <a:r>
              <a:rPr lang="zh-CN" altLang="en-US" sz="2000"/>
              <a:t>中的内核运行情况，</a:t>
            </a:r>
            <a:r>
              <a:rPr lang="en-US" altLang="zh-CN" sz="2000"/>
              <a:t>C</a:t>
            </a:r>
            <a:r>
              <a:rPr lang="zh-CN" altLang="en-US" sz="2000"/>
              <a:t>部分是二者之间的数据通道。</a:t>
            </a:r>
            <a:endParaRPr lang="en-US" altLang="zh-CN" sz="2000"/>
          </a:p>
          <a:p>
            <a:endParaRPr lang="en-US" altLang="zh-CN" sz="2000"/>
          </a:p>
          <a:p>
            <a:r>
              <a:rPr lang="zh-CN" altLang="en-US" sz="2000"/>
              <a:t>结合</a:t>
            </a:r>
            <a:r>
              <a:rPr lang="en-US" altLang="zh-CN" sz="2000"/>
              <a:t>Qemu</a:t>
            </a:r>
            <a:r>
              <a:rPr lang="zh-CN" altLang="en-US" sz="2000"/>
              <a:t>训练营的情况，我们的实习选题重点关注</a:t>
            </a:r>
            <a:r>
              <a:rPr lang="en-US" altLang="zh-CN" sz="2000" b="1"/>
              <a:t>A</a:t>
            </a:r>
            <a:r>
              <a:rPr lang="zh-CN" altLang="en-US" sz="2000" b="1"/>
              <a:t>部分 </a:t>
            </a:r>
            <a:r>
              <a:rPr lang="en-US" altLang="zh-CN" sz="2000" b="1"/>
              <a:t>- </a:t>
            </a:r>
            <a:r>
              <a:rPr lang="zh-CN" altLang="en-US" sz="2000"/>
              <a:t>从</a:t>
            </a:r>
            <a:r>
              <a:rPr lang="en-US" altLang="zh-CN" sz="2000"/>
              <a:t>Qemu</a:t>
            </a:r>
            <a:r>
              <a:rPr lang="zh-CN" altLang="en-US" sz="2000"/>
              <a:t>中截获必要的信息。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81F8837D-23C2-293B-FAFB-89CF465E4156}"/>
              </a:ext>
            </a:extLst>
          </p:cNvPr>
          <p:cNvSpPr/>
          <p:nvPr/>
        </p:nvSpPr>
        <p:spPr>
          <a:xfrm>
            <a:off x="407368" y="1871833"/>
            <a:ext cx="10081120" cy="430587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286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F76E5-C67B-DEC4-4887-C7BCA26E3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33F79A2-C40D-D676-EDB6-212D9EEA8BBF}"/>
              </a:ext>
            </a:extLst>
          </p:cNvPr>
          <p:cNvSpPr txBox="1"/>
          <p:nvPr/>
        </p:nvSpPr>
        <p:spPr>
          <a:xfrm>
            <a:off x="335360" y="260648"/>
            <a:ext cx="28873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/>
              <a:t>题目要求</a:t>
            </a:r>
            <a:r>
              <a:rPr lang="en-US" altLang="zh-CN" sz="3200"/>
              <a:t>(</a:t>
            </a:r>
            <a:r>
              <a:rPr lang="zh-CN" altLang="en-US" sz="3200"/>
              <a:t>具体</a:t>
            </a:r>
            <a:r>
              <a:rPr lang="en-US" altLang="zh-CN" sz="3200"/>
              <a:t>)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2F4BA23-D01B-AE7A-511E-04F7D21D65D6}"/>
              </a:ext>
            </a:extLst>
          </p:cNvPr>
          <p:cNvSpPr txBox="1"/>
          <p:nvPr/>
        </p:nvSpPr>
        <p:spPr>
          <a:xfrm>
            <a:off x="407368" y="1016732"/>
            <a:ext cx="11557284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工作基础：</a:t>
            </a:r>
            <a:r>
              <a:rPr lang="zh-CN" altLang="en-US" sz="2000"/>
              <a:t>上页给出的差分环境可以基于</a:t>
            </a:r>
            <a:r>
              <a:rPr lang="en-US" altLang="zh-CN" sz="2000"/>
              <a:t>qemu</a:t>
            </a:r>
            <a:r>
              <a:rPr lang="zh-CN" altLang="en-US" sz="2000"/>
              <a:t>中截获的信息，逆向还原出</a:t>
            </a:r>
            <a:r>
              <a:rPr lang="en-US" altLang="zh-CN" sz="2000"/>
              <a:t>guest Linux Kernel</a:t>
            </a:r>
            <a:r>
              <a:rPr lang="zh-CN" altLang="en-US" sz="2000"/>
              <a:t>中的部分系统调用和信号。我们将在此基础上，结合前面阶段对</a:t>
            </a:r>
            <a:r>
              <a:rPr lang="en-US" altLang="zh-CN" sz="2000"/>
              <a:t>qemu</a:t>
            </a:r>
            <a:r>
              <a:rPr lang="zh-CN" altLang="en-US" sz="2000"/>
              <a:t>的学习，重点对</a:t>
            </a:r>
            <a:r>
              <a:rPr lang="en-US" altLang="zh-CN" sz="2000"/>
              <a:t>qemu</a:t>
            </a:r>
            <a:r>
              <a:rPr lang="zh-CN" altLang="en-US" sz="2000"/>
              <a:t>截获信息的部分进行改造升级。</a:t>
            </a:r>
            <a:endParaRPr lang="en-US" altLang="zh-CN" sz="2000"/>
          </a:p>
          <a:p>
            <a:endParaRPr lang="en-US" altLang="zh-CN" sz="2400"/>
          </a:p>
          <a:p>
            <a:r>
              <a:rPr lang="zh-CN" altLang="en-US" sz="2400"/>
              <a:t>基本任务：</a:t>
            </a:r>
            <a:endParaRPr lang="en-US" altLang="zh-CN" sz="2400"/>
          </a:p>
          <a:p>
            <a:r>
              <a:rPr lang="en-US" altLang="zh-CN" sz="2000"/>
              <a:t>1. </a:t>
            </a:r>
            <a:r>
              <a:rPr lang="zh-CN" altLang="en-US" sz="2000"/>
              <a:t>根据我们给出的步骤，搭建上页所示的差分示例环境，了解完整的工作原理和过程。</a:t>
            </a:r>
            <a:endParaRPr lang="en-US" altLang="zh-CN" sz="2000"/>
          </a:p>
          <a:p>
            <a:r>
              <a:rPr lang="en-US" altLang="zh-CN" sz="2000"/>
              <a:t>2. </a:t>
            </a:r>
            <a:r>
              <a:rPr lang="zh-CN" altLang="en-US" sz="2000"/>
              <a:t>在示例的基础上进行扩展，能够还原识别更多的系统调用（</a:t>
            </a:r>
            <a:r>
              <a:rPr lang="en-US" altLang="zh-CN" sz="2000" b="1"/>
              <a:t>3</a:t>
            </a:r>
            <a:r>
              <a:rPr lang="zh-CN" altLang="en-US" sz="2000" b="1"/>
              <a:t>个</a:t>
            </a:r>
            <a:r>
              <a:rPr lang="zh-CN" altLang="en-US" sz="2000"/>
              <a:t>以上）或异常（至少</a:t>
            </a:r>
            <a:r>
              <a:rPr lang="en-US" altLang="zh-CN" sz="2000" b="1"/>
              <a:t>1</a:t>
            </a:r>
            <a:r>
              <a:rPr lang="zh-CN" altLang="en-US" sz="2000" b="1"/>
              <a:t>个</a:t>
            </a:r>
            <a:r>
              <a:rPr lang="zh-CN" altLang="en-US" sz="2000"/>
              <a:t>）。</a:t>
            </a:r>
            <a:endParaRPr lang="en-US" altLang="zh-CN" sz="2000"/>
          </a:p>
          <a:p>
            <a:endParaRPr lang="en-US" altLang="zh-CN" sz="2000"/>
          </a:p>
          <a:p>
            <a:r>
              <a:rPr lang="zh-CN" altLang="en-US" sz="2400"/>
              <a:t>探索任务</a:t>
            </a:r>
            <a:r>
              <a:rPr lang="en-US" altLang="zh-CN" sz="2400"/>
              <a:t>(</a:t>
            </a:r>
            <a:r>
              <a:rPr lang="zh-CN" altLang="en-US" sz="2400"/>
              <a:t>以下任选</a:t>
            </a:r>
            <a:r>
              <a:rPr lang="en-US" altLang="zh-CN" sz="2400"/>
              <a:t>1~N</a:t>
            </a:r>
            <a:r>
              <a:rPr lang="zh-CN" altLang="en-US" sz="2400"/>
              <a:t>项</a:t>
            </a:r>
            <a:r>
              <a:rPr lang="en-US" altLang="zh-CN" sz="2400"/>
              <a:t>)</a:t>
            </a:r>
            <a:r>
              <a:rPr lang="zh-CN" altLang="en-US" sz="2400"/>
              <a:t>：</a:t>
            </a:r>
            <a:endParaRPr lang="en-US" altLang="zh-CN" sz="2400"/>
          </a:p>
          <a:p>
            <a:r>
              <a:rPr lang="en-US" altLang="zh-CN" sz="2000"/>
              <a:t>1. </a:t>
            </a:r>
            <a:r>
              <a:rPr lang="zh-CN" altLang="en-US" sz="2000"/>
              <a:t>针对</a:t>
            </a:r>
            <a:r>
              <a:rPr lang="en-US" altLang="zh-CN" sz="2000"/>
              <a:t>C</a:t>
            </a:r>
            <a:r>
              <a:rPr lang="zh-CN" altLang="en-US" sz="2000"/>
              <a:t>部分，把</a:t>
            </a:r>
            <a:r>
              <a:rPr lang="en-US" altLang="zh-CN" sz="2000"/>
              <a:t>qemu</a:t>
            </a:r>
            <a:r>
              <a:rPr lang="zh-CN" altLang="en-US" sz="2000"/>
              <a:t>和分析工具之间的通道形式，从基于文件改为基于</a:t>
            </a:r>
            <a:r>
              <a:rPr lang="zh-CN" altLang="en-US" sz="2000" b="1"/>
              <a:t>共享内存</a:t>
            </a:r>
            <a:r>
              <a:rPr lang="zh-CN" altLang="en-US" sz="2000"/>
              <a:t>。</a:t>
            </a:r>
            <a:r>
              <a:rPr lang="en-US" altLang="zh-CN" sz="2000"/>
              <a:t>(</a:t>
            </a:r>
            <a:r>
              <a:rPr lang="zh-CN" altLang="en-US" sz="2000"/>
              <a:t>易</a:t>
            </a:r>
            <a:r>
              <a:rPr lang="en-US" altLang="zh-CN" sz="2000"/>
              <a:t>)</a:t>
            </a:r>
          </a:p>
          <a:p>
            <a:r>
              <a:rPr lang="en-US" altLang="zh-CN" sz="2000"/>
              <a:t>2. </a:t>
            </a:r>
            <a:r>
              <a:rPr lang="zh-CN" altLang="en-US" sz="2000"/>
              <a:t>针对</a:t>
            </a:r>
            <a:r>
              <a:rPr lang="en-US" altLang="zh-CN" sz="2000"/>
              <a:t>C</a:t>
            </a:r>
            <a:r>
              <a:rPr lang="zh-CN" altLang="en-US" sz="2000"/>
              <a:t>部分，复用</a:t>
            </a:r>
            <a:r>
              <a:rPr lang="en-US" altLang="zh-CN" sz="2000" b="1"/>
              <a:t>qemu trace</a:t>
            </a:r>
            <a:r>
              <a:rPr lang="zh-CN" altLang="en-US" sz="2000"/>
              <a:t>的通道，实现</a:t>
            </a:r>
            <a:r>
              <a:rPr lang="en-US" altLang="zh-CN" sz="2000"/>
              <a:t>qemu</a:t>
            </a:r>
            <a:r>
              <a:rPr lang="zh-CN" altLang="en-US" sz="2000"/>
              <a:t>和分析工具之间的通道。（中）</a:t>
            </a:r>
            <a:endParaRPr lang="en-US" altLang="zh-CN" sz="2000"/>
          </a:p>
          <a:p>
            <a:r>
              <a:rPr lang="en-US" altLang="zh-CN" sz="2000" b="1">
                <a:solidFill>
                  <a:srgbClr val="C00000"/>
                </a:solidFill>
              </a:rPr>
              <a:t>3. </a:t>
            </a:r>
            <a:r>
              <a:rPr lang="zh-CN" altLang="en-US" sz="2000"/>
              <a:t>针对</a:t>
            </a:r>
            <a:r>
              <a:rPr lang="en-US" altLang="zh-CN" sz="2000"/>
              <a:t>A</a:t>
            </a:r>
            <a:r>
              <a:rPr lang="zh-CN" altLang="en-US" sz="2000"/>
              <a:t>部分，把</a:t>
            </a:r>
            <a:r>
              <a:rPr lang="en-US" altLang="zh-CN" sz="2000"/>
              <a:t>qemu</a:t>
            </a:r>
            <a:r>
              <a:rPr lang="zh-CN" altLang="en-US" sz="2000"/>
              <a:t>截获信息的方式，从侵入式修改转为基于</a:t>
            </a:r>
            <a:r>
              <a:rPr lang="en-US" altLang="zh-CN" sz="2000" b="1"/>
              <a:t>qemu plugins</a:t>
            </a:r>
            <a:r>
              <a:rPr lang="zh-CN" altLang="en-US" sz="2000"/>
              <a:t>的方式。（难）</a:t>
            </a:r>
            <a:endParaRPr lang="en-US" altLang="zh-CN" sz="2000"/>
          </a:p>
          <a:p>
            <a:r>
              <a:rPr lang="en-US" altLang="zh-CN" sz="2000" b="1">
                <a:solidFill>
                  <a:srgbClr val="C00000"/>
                </a:solidFill>
              </a:rPr>
              <a:t>4. </a:t>
            </a:r>
            <a:r>
              <a:rPr lang="zh-CN" altLang="en-US" sz="2000"/>
              <a:t>针对</a:t>
            </a:r>
            <a:r>
              <a:rPr lang="en-US" altLang="zh-CN" sz="2000"/>
              <a:t>A</a:t>
            </a:r>
            <a:r>
              <a:rPr lang="zh-CN" altLang="en-US" sz="2000"/>
              <a:t>部分，基于</a:t>
            </a:r>
            <a:r>
              <a:rPr lang="en-US" altLang="zh-CN" sz="2000" b="1"/>
              <a:t>qemu plugins</a:t>
            </a:r>
            <a:r>
              <a:rPr lang="zh-CN" altLang="en-US" sz="2000" b="1"/>
              <a:t>，</a:t>
            </a:r>
            <a:r>
              <a:rPr lang="zh-CN" altLang="en-US" sz="2000"/>
              <a:t>把差分界面从内核态</a:t>
            </a:r>
            <a:r>
              <a:rPr lang="en-US" altLang="zh-CN" sz="2000"/>
              <a:t>/</a:t>
            </a:r>
            <a:r>
              <a:rPr lang="zh-CN" altLang="en-US" sz="2000"/>
              <a:t>用户态之间的</a:t>
            </a:r>
            <a:r>
              <a:rPr lang="en-US" altLang="zh-CN" sz="2000"/>
              <a:t>syscalls</a:t>
            </a:r>
            <a:r>
              <a:rPr lang="zh-CN" altLang="en-US" sz="2000"/>
              <a:t>界面，改为指定的</a:t>
            </a:r>
            <a:r>
              <a:rPr lang="en-US" altLang="zh-CN" sz="2000"/>
              <a:t>Linux Module</a:t>
            </a:r>
            <a:r>
              <a:rPr lang="zh-CN" altLang="en-US" sz="2000"/>
              <a:t>的界面。例如，可以监控</a:t>
            </a:r>
            <a:r>
              <a:rPr lang="en-US" altLang="zh-CN" sz="2000"/>
              <a:t>Guest kernel</a:t>
            </a:r>
            <a:r>
              <a:rPr lang="zh-CN" altLang="en-US" sz="2000"/>
              <a:t>中</a:t>
            </a:r>
            <a:r>
              <a:rPr lang="en-US" altLang="zh-CN" sz="2000"/>
              <a:t>virtio_blk</a:t>
            </a:r>
            <a:r>
              <a:rPr lang="zh-CN" altLang="en-US" sz="2000"/>
              <a:t>驱动模块或者</a:t>
            </a:r>
            <a:r>
              <a:rPr lang="en-US" altLang="zh-CN" sz="2000"/>
              <a:t>ext4</a:t>
            </a:r>
            <a:r>
              <a:rPr lang="zh-CN" altLang="en-US" sz="2000"/>
              <a:t>文件系统模块的接口界面。模块接口表现为若干组回调函数，需要截获调用这些函数的输入输出参数、返回值和任务</a:t>
            </a:r>
            <a:r>
              <a:rPr lang="en-US" altLang="zh-CN" sz="2000"/>
              <a:t>ID</a:t>
            </a:r>
            <a:r>
              <a:rPr lang="zh-CN" altLang="en-US" sz="2000"/>
              <a:t>。（难）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4EEFF4A-F03C-A181-0921-0271CF0936E3}"/>
              </a:ext>
            </a:extLst>
          </p:cNvPr>
          <p:cNvSpPr txBox="1"/>
          <p:nvPr/>
        </p:nvSpPr>
        <p:spPr>
          <a:xfrm>
            <a:off x="443372" y="6129300"/>
            <a:ext cx="54809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/>
              <a:t>鼓励对第</a:t>
            </a:r>
            <a:r>
              <a:rPr lang="en-US" altLang="zh-CN" sz="2400"/>
              <a:t>3</a:t>
            </a:r>
            <a:r>
              <a:rPr lang="zh-CN" altLang="en-US" sz="2400"/>
              <a:t>项</a:t>
            </a:r>
            <a:r>
              <a:rPr lang="en-US" altLang="zh-CN" sz="2400"/>
              <a:t> </a:t>
            </a:r>
            <a:r>
              <a:rPr lang="zh-CN" altLang="en-US" sz="2400"/>
              <a:t>和 第</a:t>
            </a:r>
            <a:r>
              <a:rPr lang="en-US" altLang="zh-CN" sz="2400"/>
              <a:t>4</a:t>
            </a:r>
            <a:r>
              <a:rPr lang="zh-CN" altLang="en-US" sz="2400"/>
              <a:t>项任务</a:t>
            </a:r>
            <a:r>
              <a:rPr lang="en-US" altLang="zh-CN" sz="2400"/>
              <a:t> </a:t>
            </a:r>
            <a:r>
              <a:rPr lang="zh-CN" altLang="en-US" sz="2400"/>
              <a:t>进行探索。</a:t>
            </a:r>
          </a:p>
        </p:txBody>
      </p:sp>
    </p:spTree>
    <p:extLst>
      <p:ext uri="{BB962C8B-B14F-4D97-AF65-F5344CB8AC3E}">
        <p14:creationId xmlns:p14="http://schemas.microsoft.com/office/powerpoint/2010/main" val="1532358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1F85732-883C-F417-A1F7-53134B7540FC}"/>
              </a:ext>
            </a:extLst>
          </p:cNvPr>
          <p:cNvSpPr txBox="1"/>
          <p:nvPr/>
        </p:nvSpPr>
        <p:spPr>
          <a:xfrm>
            <a:off x="407368" y="22464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/>
              <a:t>实验步骤</a:t>
            </a:r>
            <a:endParaRPr lang="en-US" altLang="zh-CN" sz="32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D3EC795-C4E3-69D3-ACB4-66B8090C7B2F}"/>
              </a:ext>
            </a:extLst>
          </p:cNvPr>
          <p:cNvSpPr txBox="1"/>
          <p:nvPr/>
        </p:nvSpPr>
        <p:spPr>
          <a:xfrm>
            <a:off x="407368" y="980728"/>
            <a:ext cx="1144927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/>
              <a:t>环境</a:t>
            </a:r>
            <a:r>
              <a:rPr lang="zh-CN" altLang="en-US" sz="2000"/>
              <a:t>：</a:t>
            </a:r>
            <a:r>
              <a:rPr lang="en-US" altLang="zh-CN" sz="2000"/>
              <a:t>Ubuntu 22.04.2 LTS + gcc version 11.4.0</a:t>
            </a:r>
          </a:p>
          <a:p>
            <a:endParaRPr lang="en-US" altLang="zh-CN" sz="2000"/>
          </a:p>
          <a:p>
            <a:r>
              <a:rPr lang="en-US" altLang="zh-CN" sz="2000" b="1"/>
              <a:t>0. </a:t>
            </a:r>
            <a:r>
              <a:rPr lang="zh-CN" altLang="en-US" sz="2000" b="1"/>
              <a:t>建立工作目录</a:t>
            </a:r>
            <a:r>
              <a:rPr lang="en-US" altLang="zh-CN" sz="2000" b="1"/>
              <a:t>qemu_camp</a:t>
            </a:r>
          </a:p>
          <a:p>
            <a:r>
              <a:rPr lang="en-US" altLang="zh-CN" sz="2000"/>
              <a:t>mkdir qemu_camp</a:t>
            </a:r>
          </a:p>
          <a:p>
            <a:r>
              <a:rPr lang="en-US" altLang="zh-CN" sz="2000"/>
              <a:t>cd qemu_camp</a:t>
            </a:r>
          </a:p>
          <a:p>
            <a:endParaRPr lang="en-US" altLang="zh-CN" sz="2000"/>
          </a:p>
          <a:p>
            <a:r>
              <a:rPr lang="en-US" altLang="zh-CN" sz="2000" b="1"/>
              <a:t>1. </a:t>
            </a:r>
            <a:r>
              <a:rPr lang="zh-CN" altLang="en-US" sz="2000" b="1"/>
              <a:t>下载示例</a:t>
            </a:r>
            <a:r>
              <a:rPr lang="en-US" altLang="zh-CN" sz="2000" b="1"/>
              <a:t>qemu</a:t>
            </a:r>
            <a:r>
              <a:rPr lang="zh-CN" altLang="en-US" sz="2000" b="1"/>
              <a:t>并编译</a:t>
            </a:r>
            <a:endParaRPr lang="en-US" altLang="zh-CN" sz="2000" b="1"/>
          </a:p>
          <a:p>
            <a:r>
              <a:rPr lang="fr-FR" altLang="zh-CN" sz="2000"/>
              <a:t>git clone git@github.com:gevico/qemu-lktrace.git ./qemu --depth 1</a:t>
            </a:r>
          </a:p>
          <a:p>
            <a:r>
              <a:rPr lang="en-US" altLang="zh-CN" sz="2000"/>
              <a:t>pushd qemu</a:t>
            </a:r>
          </a:p>
          <a:p>
            <a:r>
              <a:rPr lang="en-US" altLang="zh-CN" sz="2000"/>
              <a:t>mkdir build</a:t>
            </a:r>
          </a:p>
          <a:p>
            <a:r>
              <a:rPr lang="en-US" altLang="zh-CN" sz="2000"/>
              <a:t>pushd build</a:t>
            </a:r>
          </a:p>
          <a:p>
            <a:r>
              <a:rPr lang="en-US" altLang="zh-CN" sz="2000"/>
              <a:t>../configure --target-list=riscv64-softmmu</a:t>
            </a:r>
          </a:p>
          <a:p>
            <a:r>
              <a:rPr lang="en-US" altLang="zh-CN" sz="2000"/>
              <a:t>make -j $(nproc)</a:t>
            </a:r>
          </a:p>
          <a:p>
            <a:r>
              <a:rPr lang="en-US" altLang="zh-CN" sz="2000"/>
              <a:t>popd</a:t>
            </a:r>
          </a:p>
          <a:p>
            <a:r>
              <a:rPr lang="en-US" altLang="zh-CN" sz="2000"/>
              <a:t>popd</a:t>
            </a:r>
          </a:p>
          <a:p>
            <a:endParaRPr lang="en-US" altLang="zh-CN" sz="2000"/>
          </a:p>
          <a:p>
            <a:r>
              <a:rPr lang="zh-CN" altLang="en-US" sz="2000"/>
              <a:t>在</a:t>
            </a:r>
            <a:r>
              <a:rPr lang="en-US" altLang="zh-CN" sz="2000"/>
              <a:t>qemu/build</a:t>
            </a:r>
            <a:r>
              <a:rPr lang="zh-CN" altLang="en-US" sz="2000"/>
              <a:t>目录下生成</a:t>
            </a:r>
            <a:r>
              <a:rPr lang="en-US" altLang="zh-CN" sz="2000"/>
              <a:t>qemu-system-riscv64</a:t>
            </a:r>
            <a:r>
              <a:rPr lang="zh-CN" altLang="en-US" sz="2000"/>
              <a:t>，是我们的实验模拟器，能够</a:t>
            </a:r>
            <a:r>
              <a:rPr lang="en-US" altLang="zh-CN" sz="2000"/>
              <a:t>dump</a:t>
            </a:r>
            <a:r>
              <a:rPr lang="zh-CN" altLang="en-US" sz="2000"/>
              <a:t>出截获的数据文件。</a:t>
            </a:r>
            <a:endParaRPr lang="en-US" altLang="zh-CN" sz="2000"/>
          </a:p>
        </p:txBody>
      </p:sp>
    </p:spTree>
    <p:extLst>
      <p:ext uri="{BB962C8B-B14F-4D97-AF65-F5344CB8AC3E}">
        <p14:creationId xmlns:p14="http://schemas.microsoft.com/office/powerpoint/2010/main" val="1775049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E31F6-4095-3A01-C46F-3679BB07B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5A2DB90-A730-882B-B9F1-B4ACC7D3FBAA}"/>
              </a:ext>
            </a:extLst>
          </p:cNvPr>
          <p:cNvSpPr txBox="1"/>
          <p:nvPr/>
        </p:nvSpPr>
        <p:spPr>
          <a:xfrm>
            <a:off x="407368" y="22464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/>
              <a:t>实验步骤</a:t>
            </a:r>
            <a:endParaRPr lang="en-US" altLang="zh-CN" sz="32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40CFDCD-0F8C-8DDA-1DB5-A6A5F05904D9}"/>
              </a:ext>
            </a:extLst>
          </p:cNvPr>
          <p:cNvSpPr txBox="1"/>
          <p:nvPr/>
        </p:nvSpPr>
        <p:spPr>
          <a:xfrm>
            <a:off x="407368" y="980728"/>
            <a:ext cx="1144927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/>
              <a:t>2. </a:t>
            </a:r>
            <a:r>
              <a:rPr lang="zh-CN" altLang="en-US" sz="2000" b="1"/>
              <a:t>下载</a:t>
            </a:r>
            <a:r>
              <a:rPr lang="en-US" altLang="zh-CN" sz="2000" b="1"/>
              <a:t>linux-5.15.135</a:t>
            </a:r>
            <a:r>
              <a:rPr lang="zh-CN" altLang="en-US" sz="2000" b="1"/>
              <a:t>源码并编译</a:t>
            </a:r>
            <a:endParaRPr lang="en-US" altLang="zh-CN" sz="2000" b="1"/>
          </a:p>
          <a:p>
            <a:endParaRPr lang="en-US" altLang="zh-CN" sz="2000"/>
          </a:p>
          <a:p>
            <a:r>
              <a:rPr lang="en-US" altLang="zh-CN" sz="2000"/>
              <a:t>tar xvf ./linux-5.15.135.tar.xz</a:t>
            </a:r>
          </a:p>
          <a:p>
            <a:r>
              <a:rPr lang="en-US" altLang="zh-CN" sz="2000"/>
              <a:t>pushd ./linux-5.15.135/</a:t>
            </a:r>
          </a:p>
          <a:p>
            <a:r>
              <a:rPr lang="en-US" altLang="zh-CN" sz="2000"/>
              <a:t>cp arch/riscv/configs/defconfig .config</a:t>
            </a:r>
          </a:p>
          <a:p>
            <a:r>
              <a:rPr lang="en-US" altLang="zh-CN" sz="2000"/>
              <a:t>make ARCH=riscv CROSS_COMPILE=riscv64-linux-gnu- menuconfig</a:t>
            </a:r>
          </a:p>
          <a:p>
            <a:r>
              <a:rPr lang="en-US" altLang="zh-CN" sz="2000"/>
              <a:t># </a:t>
            </a:r>
            <a:r>
              <a:rPr lang="zh-CN" altLang="en-US" sz="2000"/>
              <a:t>进入</a:t>
            </a:r>
            <a:r>
              <a:rPr lang="en-US" altLang="zh-CN" sz="2000"/>
              <a:t>menuconfig</a:t>
            </a:r>
            <a:r>
              <a:rPr lang="zh-CN" altLang="en-US" sz="2000"/>
              <a:t>后，不必修改任何选项，直接保存和退出</a:t>
            </a:r>
            <a:endParaRPr lang="en-US" altLang="zh-CN" sz="2000"/>
          </a:p>
          <a:p>
            <a:endParaRPr lang="en-US" altLang="zh-CN" sz="2000"/>
          </a:p>
          <a:p>
            <a:r>
              <a:rPr lang="en-US" altLang="zh-CN" sz="2000"/>
              <a:t>make ARCH=riscv CROSS_COMPILE=riscv64-linux-gnu- -j $(nproc)</a:t>
            </a:r>
          </a:p>
          <a:p>
            <a:r>
              <a:rPr lang="en-US" altLang="zh-CN" sz="2000"/>
              <a:t>mkdir -p output</a:t>
            </a:r>
          </a:p>
          <a:p>
            <a:r>
              <a:rPr lang="en-US" altLang="zh-CN" sz="2000"/>
              <a:t>make ARCH=riscv install INSTALL_PATH=./output</a:t>
            </a:r>
          </a:p>
          <a:p>
            <a:r>
              <a:rPr lang="en-US" altLang="zh-CN" sz="2000"/>
              <a:t>make ARCH=riscv modules_install INSTALL_MOD_PATH=./output</a:t>
            </a:r>
          </a:p>
          <a:p>
            <a:endParaRPr lang="en-US" altLang="zh-CN" sz="2000"/>
          </a:p>
          <a:p>
            <a:r>
              <a:rPr lang="en-US" altLang="zh-CN" sz="2000"/>
              <a:t>popd</a:t>
            </a:r>
          </a:p>
        </p:txBody>
      </p:sp>
    </p:spTree>
    <p:extLst>
      <p:ext uri="{BB962C8B-B14F-4D97-AF65-F5344CB8AC3E}">
        <p14:creationId xmlns:p14="http://schemas.microsoft.com/office/powerpoint/2010/main" val="131310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F1593-2748-C6AC-A119-28BEE5714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8AFDFDA-46A6-DC30-0BF1-48B2A0CF8D1C}"/>
              </a:ext>
            </a:extLst>
          </p:cNvPr>
          <p:cNvSpPr txBox="1"/>
          <p:nvPr/>
        </p:nvSpPr>
        <p:spPr>
          <a:xfrm>
            <a:off x="407368" y="22464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/>
              <a:t>实验步骤</a:t>
            </a:r>
            <a:endParaRPr lang="en-US" altLang="zh-CN" sz="32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D685E65-2F16-DFDB-2470-74FDEB7AC28D}"/>
              </a:ext>
            </a:extLst>
          </p:cNvPr>
          <p:cNvSpPr txBox="1"/>
          <p:nvPr/>
        </p:nvSpPr>
        <p:spPr>
          <a:xfrm>
            <a:off x="407368" y="980728"/>
            <a:ext cx="1144927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/>
              <a:t>3. </a:t>
            </a:r>
            <a:r>
              <a:rPr lang="zh-CN" altLang="en-US" sz="2000" b="1"/>
              <a:t>构造</a:t>
            </a:r>
            <a:r>
              <a:rPr lang="en-US" altLang="zh-CN" sz="2000" b="1"/>
              <a:t>RootFS</a:t>
            </a:r>
            <a:r>
              <a:rPr lang="zh-CN" altLang="en-US" sz="2000" b="1"/>
              <a:t>，并在其中安装一些用户态应用程序</a:t>
            </a:r>
            <a:endParaRPr lang="en-US" altLang="zh-CN" sz="2000" b="1"/>
          </a:p>
          <a:p>
            <a:endParaRPr lang="en-US" altLang="zh-CN" sz="2000"/>
          </a:p>
          <a:p>
            <a:r>
              <a:rPr lang="en-US" altLang="zh-CN" sz="2000"/>
              <a:t>git clone git@github.com:shilei-massclouds/lkmodel.git --depth 1</a:t>
            </a:r>
          </a:p>
          <a:p>
            <a:r>
              <a:rPr lang="en-US" altLang="zh-CN" sz="2000"/>
              <a:t>pushd ./lkmodel/</a:t>
            </a:r>
          </a:p>
          <a:p>
            <a:r>
              <a:rPr lang="en-US" altLang="zh-CN" sz="2000"/>
              <a:t>make disk_img</a:t>
            </a:r>
          </a:p>
          <a:p>
            <a:r>
              <a:rPr lang="en-US" altLang="zh-CN" sz="2000"/>
              <a:t>make prepare</a:t>
            </a:r>
          </a:p>
          <a:p>
            <a:r>
              <a:rPr lang="en-US" altLang="zh-CN" sz="2000"/>
              <a:t>popd</a:t>
            </a:r>
          </a:p>
          <a:p>
            <a:endParaRPr lang="en-US" altLang="zh-CN" sz="2000"/>
          </a:p>
          <a:p>
            <a:r>
              <a:rPr lang="zh-CN" altLang="en-US" sz="2000"/>
              <a:t>在</a:t>
            </a:r>
            <a:r>
              <a:rPr lang="en-US" altLang="zh-CN" sz="2000"/>
              <a:t>lkmodel</a:t>
            </a:r>
            <a:r>
              <a:rPr lang="zh-CN" altLang="en-US" sz="2000"/>
              <a:t>目录下会生成一个</a:t>
            </a:r>
            <a:r>
              <a:rPr lang="en-US" altLang="zh-CN" sz="2000"/>
              <a:t>disk.img</a:t>
            </a:r>
            <a:r>
              <a:rPr lang="zh-CN" altLang="en-US" sz="2000"/>
              <a:t>，就是我们需要的</a:t>
            </a:r>
            <a:r>
              <a:rPr lang="en-US" altLang="zh-CN" sz="2000"/>
              <a:t>rootfs</a:t>
            </a:r>
            <a:r>
              <a:rPr lang="zh-CN" altLang="en-US" sz="2000"/>
              <a:t>磁盘</a:t>
            </a:r>
            <a:endParaRPr lang="en-US" altLang="zh-CN" sz="2000"/>
          </a:p>
          <a:p>
            <a:endParaRPr lang="en-US" altLang="zh-CN" sz="2000"/>
          </a:p>
          <a:p>
            <a:r>
              <a:rPr lang="zh-CN" altLang="en-US" sz="2000"/>
              <a:t>注：</a:t>
            </a:r>
            <a:endParaRPr lang="en-US" altLang="zh-CN" sz="2000"/>
          </a:p>
          <a:p>
            <a:r>
              <a:rPr lang="en-US" altLang="zh-CN" sz="2000"/>
              <a:t>(1) </a:t>
            </a:r>
            <a:r>
              <a:rPr lang="zh-CN" altLang="en-US" sz="2000"/>
              <a:t>上面借助另一个实验项目</a:t>
            </a:r>
            <a:r>
              <a:rPr lang="en-US" altLang="zh-CN" sz="2000"/>
              <a:t>lkmodel</a:t>
            </a:r>
            <a:r>
              <a:rPr lang="zh-CN" altLang="en-US" sz="2000"/>
              <a:t>构造了</a:t>
            </a:r>
            <a:r>
              <a:rPr lang="en-US" altLang="zh-CN" sz="2000"/>
              <a:t>rootfs</a:t>
            </a:r>
            <a:r>
              <a:rPr lang="zh-CN" altLang="en-US" sz="2000"/>
              <a:t>磁盘文件，我们只需要这个文件，不用管</a:t>
            </a:r>
            <a:r>
              <a:rPr lang="en-US" altLang="zh-CN" sz="2000"/>
              <a:t>lkmodel</a:t>
            </a:r>
            <a:r>
              <a:rPr lang="zh-CN" altLang="en-US" sz="2000"/>
              <a:t>，这个与咱们的实验无关。大家也可以选择自己构造</a:t>
            </a:r>
            <a:r>
              <a:rPr lang="en-US" altLang="zh-CN" sz="2000"/>
              <a:t>rootfs</a:t>
            </a:r>
            <a:r>
              <a:rPr lang="zh-CN" altLang="en-US" sz="2000"/>
              <a:t>，网上有很多参考资料。</a:t>
            </a:r>
            <a:endParaRPr lang="en-US" altLang="zh-CN" sz="2000"/>
          </a:p>
          <a:p>
            <a:r>
              <a:rPr lang="en-US" altLang="zh-CN" sz="2000"/>
              <a:t>(2) </a:t>
            </a:r>
            <a:r>
              <a:rPr lang="zh-CN" altLang="en-US" sz="2000"/>
              <a:t>在</a:t>
            </a:r>
            <a:r>
              <a:rPr lang="en-US" altLang="zh-CN" sz="2000"/>
              <a:t>make prepare</a:t>
            </a:r>
            <a:r>
              <a:rPr lang="zh-CN" altLang="en-US" sz="2000"/>
              <a:t>这一步会报找不到</a:t>
            </a:r>
            <a:r>
              <a:rPr lang="en-US" altLang="zh-CN" sz="2000"/>
              <a:t>busybox</a:t>
            </a:r>
            <a:r>
              <a:rPr lang="zh-CN" altLang="en-US" sz="2000"/>
              <a:t>和</a:t>
            </a:r>
            <a:r>
              <a:rPr lang="en-US" altLang="zh-CN" sz="2000"/>
              <a:t>ltp</a:t>
            </a:r>
            <a:r>
              <a:rPr lang="zh-CN" altLang="en-US" sz="2000"/>
              <a:t>等文件，直接忽略即可，我们用不到那些复杂的应用。这一步实际是调用了</a:t>
            </a:r>
            <a:r>
              <a:rPr lang="en-US" altLang="zh-CN" sz="2000"/>
              <a:t>lkmodel/scripts/make/utils.mk</a:t>
            </a:r>
            <a:r>
              <a:rPr lang="zh-CN" altLang="en-US" sz="2000"/>
              <a:t>中的</a:t>
            </a:r>
            <a:r>
              <a:rPr lang="en-US" altLang="zh-CN" sz="2000"/>
              <a:t>riscv64_install_apps</a:t>
            </a:r>
            <a:r>
              <a:rPr lang="zh-CN" altLang="en-US" sz="2000"/>
              <a:t>。</a:t>
            </a:r>
            <a:endParaRPr lang="en-US" altLang="zh-CN" sz="2000"/>
          </a:p>
        </p:txBody>
      </p:sp>
    </p:spTree>
    <p:extLst>
      <p:ext uri="{BB962C8B-B14F-4D97-AF65-F5344CB8AC3E}">
        <p14:creationId xmlns:p14="http://schemas.microsoft.com/office/powerpoint/2010/main" val="1988148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38C3E-0CC3-94B3-5A5C-8491A60B9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73A53C8-2CC8-7247-62AA-1C563DBE90FC}"/>
              </a:ext>
            </a:extLst>
          </p:cNvPr>
          <p:cNvSpPr txBox="1"/>
          <p:nvPr/>
        </p:nvSpPr>
        <p:spPr>
          <a:xfrm>
            <a:off x="407368" y="22464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/>
              <a:t>实验步骤</a:t>
            </a:r>
            <a:endParaRPr lang="en-US" altLang="zh-CN" sz="32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59F4B30-E7E7-3227-FBD4-CA46557793E6}"/>
              </a:ext>
            </a:extLst>
          </p:cNvPr>
          <p:cNvSpPr txBox="1"/>
          <p:nvPr/>
        </p:nvSpPr>
        <p:spPr>
          <a:xfrm>
            <a:off x="407368" y="980728"/>
            <a:ext cx="1144927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/>
              <a:t>4. </a:t>
            </a:r>
            <a:r>
              <a:rPr lang="zh-CN" altLang="en-US" sz="2000" b="1"/>
              <a:t>构造分析和查看工具</a:t>
            </a:r>
            <a:r>
              <a:rPr lang="en-US" altLang="zh-CN" sz="2000" b="1"/>
              <a:t>lktrace</a:t>
            </a:r>
          </a:p>
          <a:p>
            <a:endParaRPr lang="en-US" altLang="zh-CN" sz="2000"/>
          </a:p>
          <a:p>
            <a:r>
              <a:rPr lang="en-US" altLang="zh-CN" sz="2000"/>
              <a:t>pushd qemu</a:t>
            </a:r>
          </a:p>
          <a:p>
            <a:r>
              <a:rPr lang="en-US" altLang="zh-CN" sz="2000"/>
              <a:t>pushd lktrace</a:t>
            </a:r>
          </a:p>
          <a:p>
            <a:r>
              <a:rPr lang="en-US" altLang="zh-CN" sz="2000"/>
              <a:t>make</a:t>
            </a:r>
          </a:p>
          <a:p>
            <a:r>
              <a:rPr lang="en-US" altLang="zh-CN" sz="2000"/>
              <a:t>make install</a:t>
            </a:r>
          </a:p>
          <a:p>
            <a:r>
              <a:rPr lang="en-US" altLang="zh-CN" sz="2000"/>
              <a:t>popd</a:t>
            </a:r>
          </a:p>
          <a:p>
            <a:r>
              <a:rPr lang="en-US" altLang="zh-CN" sz="2000"/>
              <a:t>popd</a:t>
            </a:r>
          </a:p>
          <a:p>
            <a:endParaRPr lang="en-US" altLang="zh-CN" sz="2000"/>
          </a:p>
          <a:p>
            <a:r>
              <a:rPr lang="zh-CN" altLang="en-US" sz="2000"/>
              <a:t>然后可以执行</a:t>
            </a:r>
            <a:endParaRPr lang="en-US" altLang="zh-CN" sz="2000"/>
          </a:p>
          <a:p>
            <a:r>
              <a:rPr lang="en-US" altLang="zh-CN" sz="2000"/>
              <a:t>type lktrace</a:t>
            </a:r>
          </a:p>
          <a:p>
            <a:r>
              <a:rPr lang="zh-CN" altLang="en-US" sz="2000"/>
              <a:t>看看是否安装成功，我的环境显示</a:t>
            </a:r>
            <a:endParaRPr lang="en-US" altLang="zh-CN" sz="2000"/>
          </a:p>
          <a:p>
            <a:r>
              <a:rPr lang="en-US" altLang="zh-CN" sz="2000"/>
              <a:t>lktrace is /home/cloud/.cargo/bin/lktrace</a:t>
            </a:r>
          </a:p>
          <a:p>
            <a:endParaRPr lang="en-US" altLang="zh-CN" sz="2000"/>
          </a:p>
          <a:p>
            <a:r>
              <a:rPr lang="zh-CN" altLang="en-US" sz="2000"/>
              <a:t>注：由于</a:t>
            </a:r>
            <a:r>
              <a:rPr lang="en-US" altLang="zh-CN" sz="2000"/>
              <a:t>lktrace</a:t>
            </a:r>
            <a:r>
              <a:rPr lang="zh-CN" altLang="en-US" sz="2000"/>
              <a:t>是个</a:t>
            </a:r>
            <a:r>
              <a:rPr lang="en-US" altLang="zh-CN" sz="2000"/>
              <a:t>rust</a:t>
            </a:r>
            <a:r>
              <a:rPr lang="zh-CN" altLang="en-US" sz="2000"/>
              <a:t>程序，大家需要参照官网的要求预先安装一下</a:t>
            </a:r>
            <a:r>
              <a:rPr lang="en-US" altLang="zh-CN" sz="2000"/>
              <a:t>rust</a:t>
            </a:r>
            <a:r>
              <a:rPr lang="zh-CN" altLang="en-US" sz="2000"/>
              <a:t>编译环境。</a:t>
            </a:r>
            <a:endParaRPr lang="en-US" altLang="zh-CN" sz="2000"/>
          </a:p>
        </p:txBody>
      </p:sp>
    </p:spTree>
    <p:extLst>
      <p:ext uri="{BB962C8B-B14F-4D97-AF65-F5344CB8AC3E}">
        <p14:creationId xmlns:p14="http://schemas.microsoft.com/office/powerpoint/2010/main" val="1680953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D65E0-14CE-8E76-6534-36DCEFF48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818E304-FA86-DE12-96DA-2FCB98917E50}"/>
              </a:ext>
            </a:extLst>
          </p:cNvPr>
          <p:cNvSpPr txBox="1"/>
          <p:nvPr/>
        </p:nvSpPr>
        <p:spPr>
          <a:xfrm>
            <a:off x="407368" y="22464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/>
              <a:t>实验步骤</a:t>
            </a:r>
            <a:endParaRPr lang="en-US" altLang="zh-CN" sz="32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34928A8-2D56-5F0F-80BA-786C771032C9}"/>
              </a:ext>
            </a:extLst>
          </p:cNvPr>
          <p:cNvSpPr txBox="1"/>
          <p:nvPr/>
        </p:nvSpPr>
        <p:spPr>
          <a:xfrm>
            <a:off x="407368" y="980728"/>
            <a:ext cx="1144927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/>
              <a:t>5. </a:t>
            </a:r>
            <a:r>
              <a:rPr lang="zh-CN" altLang="en-US" sz="2000" b="1"/>
              <a:t>在示例</a:t>
            </a:r>
            <a:r>
              <a:rPr lang="en-US" altLang="zh-CN" sz="2000" b="1"/>
              <a:t>qemu</a:t>
            </a:r>
            <a:r>
              <a:rPr lang="zh-CN" altLang="en-US" sz="2000" b="1"/>
              <a:t>启动</a:t>
            </a:r>
            <a:r>
              <a:rPr lang="en-US" altLang="zh-CN" sz="2000" b="1"/>
              <a:t>linux kernel</a:t>
            </a:r>
            <a:r>
              <a:rPr lang="zh-CN" altLang="en-US" sz="2000" b="1"/>
              <a:t>，产生</a:t>
            </a:r>
            <a:r>
              <a:rPr lang="en-US" altLang="zh-CN" sz="2000" b="1"/>
              <a:t>dump</a:t>
            </a:r>
            <a:r>
              <a:rPr lang="zh-CN" altLang="en-US" sz="2000" b="1"/>
              <a:t>数据文件</a:t>
            </a:r>
            <a:r>
              <a:rPr lang="en-US" altLang="zh-CN" sz="2000" b="1"/>
              <a:t> </a:t>
            </a:r>
          </a:p>
          <a:p>
            <a:endParaRPr lang="en-US" altLang="zh-CN" sz="2000"/>
          </a:p>
          <a:p>
            <a:r>
              <a:rPr lang="en-US" altLang="zh-CN" sz="2000"/>
              <a:t># </a:t>
            </a:r>
            <a:r>
              <a:rPr lang="zh-CN" altLang="en-US" sz="2000"/>
              <a:t>当前的工作路径</a:t>
            </a:r>
            <a:r>
              <a:rPr lang="en-US" altLang="zh-CN" sz="2000"/>
              <a:t>$PWD</a:t>
            </a:r>
            <a:r>
              <a:rPr lang="zh-CN" altLang="en-US" sz="2000"/>
              <a:t>在</a:t>
            </a:r>
            <a:r>
              <a:rPr lang="en-US" altLang="zh-CN" sz="2000"/>
              <a:t>qemu_camp</a:t>
            </a:r>
            <a:r>
              <a:rPr lang="zh-CN" altLang="en-US" sz="2000"/>
              <a:t>这一级目录</a:t>
            </a:r>
            <a:endParaRPr lang="en-US" altLang="zh-CN" sz="2000"/>
          </a:p>
          <a:p>
            <a:endParaRPr lang="en-US" altLang="zh-CN" sz="2000"/>
          </a:p>
          <a:p>
            <a:r>
              <a:rPr lang="en-US" altLang="zh-CN" sz="2000"/>
              <a:t># </a:t>
            </a:r>
            <a:r>
              <a:rPr lang="zh-CN" altLang="en-US" sz="2000"/>
              <a:t>启动内核，可以把下面这行写到脚本里</a:t>
            </a:r>
            <a:endParaRPr lang="en-US" altLang="zh-CN" sz="2000"/>
          </a:p>
          <a:p>
            <a:r>
              <a:rPr lang="en-US" altLang="zh-CN" sz="2000"/>
              <a:t>./qemu/build/qemu-system-riscv64 -m 128M -smp 1 -machine virt \</a:t>
            </a:r>
          </a:p>
          <a:p>
            <a:r>
              <a:rPr lang="en-US" altLang="zh-CN" sz="2000"/>
              <a:t>-bios default -kernel ./linux-5.15.135/output/vmlinuz-5.15.135 \</a:t>
            </a:r>
          </a:p>
          <a:p>
            <a:r>
              <a:rPr lang="en-US" altLang="zh-CN" sz="2000"/>
              <a:t>-device virtio-blk-device,drive=disk0 -drive id=disk0,if=none,format=raw,file=./lkmodel/disk.img \</a:t>
            </a:r>
          </a:p>
          <a:p>
            <a:r>
              <a:rPr lang="en-US" altLang="zh-CN" sz="2000"/>
              <a:t>-nographic -append "earlycon=sbi root=/dev/vda rw console=ttyS0"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8A9B672-71A1-95BD-E4F6-F12F56CC7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4" y="4257092"/>
            <a:ext cx="6268325" cy="1552792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48BE5798-8998-E74F-B30C-BD2BC3B0A2E5}"/>
              </a:ext>
            </a:extLst>
          </p:cNvPr>
          <p:cNvSpPr/>
          <p:nvPr/>
        </p:nvSpPr>
        <p:spPr>
          <a:xfrm>
            <a:off x="335360" y="5018341"/>
            <a:ext cx="6048672" cy="318871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88B7D66-0B7C-8ACA-73D8-48910EDA731A}"/>
              </a:ext>
            </a:extLst>
          </p:cNvPr>
          <p:cNvSpPr txBox="1"/>
          <p:nvPr/>
        </p:nvSpPr>
        <p:spPr>
          <a:xfrm>
            <a:off x="407368" y="6150260"/>
            <a:ext cx="114492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/>
              <a:t>出现红框的信息，说明</a:t>
            </a:r>
            <a:r>
              <a:rPr lang="en-US" altLang="zh-CN" sz="1800"/>
              <a:t>linux kernel</a:t>
            </a:r>
            <a:r>
              <a:rPr lang="zh-CN" altLang="en-US" sz="1800"/>
              <a:t>启动完成后进入到一个用户态应用，标志着内核启动成功。</a:t>
            </a:r>
            <a:r>
              <a:rPr lang="en-US" altLang="zh-CN"/>
              <a:t>Ctrl A +X</a:t>
            </a:r>
            <a:r>
              <a:rPr lang="zh-CN" altLang="en-US"/>
              <a:t>退出。</a:t>
            </a:r>
            <a:endParaRPr lang="en-US" altLang="zh-CN"/>
          </a:p>
          <a:p>
            <a:r>
              <a:rPr lang="zh-CN" altLang="en-US" sz="1800"/>
              <a:t>当前目录下产生一个</a:t>
            </a:r>
            <a:r>
              <a:rPr lang="en-US" altLang="zh-CN" sz="1800"/>
              <a:t>lk_trace.data</a:t>
            </a:r>
            <a:r>
              <a:rPr lang="zh-CN" altLang="en-US" sz="1800"/>
              <a:t>的数据文件。</a:t>
            </a:r>
            <a:endParaRPr lang="en-US" altLang="zh-CN" sz="1800"/>
          </a:p>
        </p:txBody>
      </p:sp>
    </p:spTree>
    <p:extLst>
      <p:ext uri="{BB962C8B-B14F-4D97-AF65-F5344CB8AC3E}">
        <p14:creationId xmlns:p14="http://schemas.microsoft.com/office/powerpoint/2010/main" val="4234447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9ACE8-800A-BF1F-E9D4-8FE5754B5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B1AFAC8-ECDE-4849-80A5-B5CB1E6E843E}"/>
              </a:ext>
            </a:extLst>
          </p:cNvPr>
          <p:cNvSpPr txBox="1"/>
          <p:nvPr/>
        </p:nvSpPr>
        <p:spPr>
          <a:xfrm>
            <a:off x="407368" y="22464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/>
              <a:t>实验步骤</a:t>
            </a:r>
            <a:endParaRPr lang="en-US" altLang="zh-CN" sz="32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B14FA1E-49A9-64B1-69D3-82D9BBC4013F}"/>
              </a:ext>
            </a:extLst>
          </p:cNvPr>
          <p:cNvSpPr txBox="1"/>
          <p:nvPr/>
        </p:nvSpPr>
        <p:spPr>
          <a:xfrm>
            <a:off x="407368" y="980728"/>
            <a:ext cx="114492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/>
              <a:t>6. </a:t>
            </a:r>
            <a:r>
              <a:rPr lang="zh-CN" altLang="en-US" sz="2000" b="1"/>
              <a:t>用</a:t>
            </a:r>
            <a:r>
              <a:rPr lang="en-US" altLang="zh-CN" sz="2000" b="1"/>
              <a:t>lktrace</a:t>
            </a:r>
            <a:r>
              <a:rPr lang="zh-CN" altLang="en-US" sz="2000" b="1"/>
              <a:t>分析上一步产生的</a:t>
            </a:r>
            <a:r>
              <a:rPr lang="en-US" altLang="zh-CN" sz="2000" b="1"/>
              <a:t>lk_trace.data</a:t>
            </a:r>
            <a:r>
              <a:rPr lang="zh-CN" altLang="en-US" sz="2000" b="1"/>
              <a:t>数据文件</a:t>
            </a:r>
            <a:r>
              <a:rPr lang="en-US" altLang="zh-CN" sz="2000" b="1"/>
              <a:t> </a:t>
            </a:r>
          </a:p>
          <a:p>
            <a:endParaRPr lang="en-US" altLang="zh-CN" sz="2000"/>
          </a:p>
          <a:p>
            <a:r>
              <a:rPr lang="en-US" altLang="zh-CN" sz="2000"/>
              <a:t># </a:t>
            </a:r>
            <a:r>
              <a:rPr lang="zh-CN" altLang="en-US" sz="2000"/>
              <a:t>当前的工作路径</a:t>
            </a:r>
            <a:r>
              <a:rPr lang="en-US" altLang="zh-CN" sz="2000"/>
              <a:t>$PWD</a:t>
            </a:r>
            <a:r>
              <a:rPr lang="zh-CN" altLang="en-US" sz="2000"/>
              <a:t>在</a:t>
            </a:r>
            <a:r>
              <a:rPr lang="en-US" altLang="zh-CN" sz="2000"/>
              <a:t>qemu_camp</a:t>
            </a:r>
            <a:r>
              <a:rPr lang="zh-CN" altLang="en-US" sz="2000"/>
              <a:t>这一级目录，执行</a:t>
            </a:r>
            <a:endParaRPr lang="en-US" altLang="zh-CN" sz="2000"/>
          </a:p>
          <a:p>
            <a:r>
              <a:rPr lang="en-US" altLang="zh-CN" sz="2000"/>
              <a:t>lktrace ./lk_trace.data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A1DA628-199B-AF25-3250-E1D4CCDAC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07" y="2420888"/>
            <a:ext cx="11767185" cy="331236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7369E97-50D6-30E4-D450-8BA853AA6BBD}"/>
              </a:ext>
            </a:extLst>
          </p:cNvPr>
          <p:cNvSpPr txBox="1"/>
          <p:nvPr/>
        </p:nvSpPr>
        <p:spPr>
          <a:xfrm>
            <a:off x="371364" y="5987025"/>
            <a:ext cx="109905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以上是在内核态</a:t>
            </a:r>
            <a:r>
              <a:rPr lang="en-US" altLang="zh-CN"/>
              <a:t>/</a:t>
            </a:r>
            <a:r>
              <a:rPr lang="zh-CN" altLang="en-US"/>
              <a:t>用户态交互界面上监控到的信息，用户态应用是</a:t>
            </a:r>
            <a:r>
              <a:rPr lang="en-US" altLang="zh-CN"/>
              <a:t>/btp/sbin/hello</a:t>
            </a:r>
            <a:r>
              <a:rPr lang="zh-CN" altLang="en-US"/>
              <a:t>，它触发的系统调用较少。</a:t>
            </a:r>
            <a:endParaRPr lang="en-US" altLang="zh-CN"/>
          </a:p>
          <a:p>
            <a:r>
              <a:rPr lang="zh-CN" altLang="en-US"/>
              <a:t>大家可以通过扩展</a:t>
            </a:r>
            <a:r>
              <a:rPr lang="en-US" altLang="zh-CN"/>
              <a:t>lkmodel/btp/hello.c</a:t>
            </a:r>
            <a:r>
              <a:rPr lang="zh-CN" altLang="en-US"/>
              <a:t>，去触发更多的系统调用、异常和信号。</a:t>
            </a:r>
          </a:p>
        </p:txBody>
      </p:sp>
    </p:spTree>
    <p:extLst>
      <p:ext uri="{BB962C8B-B14F-4D97-AF65-F5344CB8AC3E}">
        <p14:creationId xmlns:p14="http://schemas.microsoft.com/office/powerpoint/2010/main" val="3317309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5106A26-41AC-387A-3E0E-E2B8D909A052}"/>
              </a:ext>
            </a:extLst>
          </p:cNvPr>
          <p:cNvSpPr txBox="1"/>
          <p:nvPr/>
        </p:nvSpPr>
        <p:spPr>
          <a:xfrm>
            <a:off x="407368" y="22464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/>
              <a:t>选题实践的意义</a:t>
            </a:r>
            <a:endParaRPr lang="en-US" altLang="zh-CN" sz="32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3819586-2A4C-C0AD-C1F9-71C03C7DEC66}"/>
              </a:ext>
            </a:extLst>
          </p:cNvPr>
          <p:cNvSpPr txBox="1"/>
          <p:nvPr/>
        </p:nvSpPr>
        <p:spPr>
          <a:xfrm>
            <a:off x="479376" y="944724"/>
            <a:ext cx="5364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/>
              <a:t>1. </a:t>
            </a:r>
            <a:r>
              <a:rPr lang="zh-CN" altLang="en-US" sz="2000" b="1"/>
              <a:t>跨越软硬件接口，更好的学习理解体系结构</a:t>
            </a:r>
            <a:endParaRPr lang="en-US" altLang="zh-CN" sz="2000" b="1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14A6119-5441-8892-4375-EA2E740CE7AA}"/>
              </a:ext>
            </a:extLst>
          </p:cNvPr>
          <p:cNvSpPr txBox="1"/>
          <p:nvPr/>
        </p:nvSpPr>
        <p:spPr>
          <a:xfrm>
            <a:off x="6600056" y="944724"/>
            <a:ext cx="5364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/>
              <a:t>2. </a:t>
            </a:r>
            <a:r>
              <a:rPr lang="zh-CN" altLang="en-US" sz="2000" b="1"/>
              <a:t>探索新的观测内核的方式</a:t>
            </a:r>
            <a:endParaRPr lang="en-US" altLang="zh-CN" sz="2000" b="1"/>
          </a:p>
          <a:p>
            <a:r>
              <a:rPr lang="zh-CN" altLang="en-US" sz="2000" b="1"/>
              <a:t> </a:t>
            </a:r>
            <a:r>
              <a:rPr lang="en-US" altLang="zh-CN" sz="2000" b="1"/>
              <a:t>- </a:t>
            </a:r>
            <a:r>
              <a:rPr lang="zh-CN" altLang="en-US" sz="2000" b="1"/>
              <a:t>观测行为不影响被观测对象</a:t>
            </a:r>
            <a:endParaRPr lang="en-US" altLang="zh-CN" sz="2000" b="1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C217229-7AA8-49ED-BC9A-A7E09155C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856" y="2564904"/>
            <a:ext cx="2840539" cy="218503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4ADAC45-A733-08FE-F121-B8703E3C7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902" y="1988840"/>
            <a:ext cx="4227258" cy="295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172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1582</TotalTime>
  <Words>1389</Words>
  <Application>Microsoft Office PowerPoint</Application>
  <PresentationFormat>宽屏</PresentationFormat>
  <Paragraphs>142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等线</vt:lpstr>
      <vt:lpstr>等线 Light</vt:lpstr>
      <vt:lpstr>Arial</vt:lpstr>
      <vt:lpstr>Office 主题​​</vt:lpstr>
      <vt:lpstr>选题3 - 基于Qemu的差分测试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磊 石</dc:creator>
  <cp:lastModifiedBy>磊 石</cp:lastModifiedBy>
  <cp:revision>52</cp:revision>
  <dcterms:created xsi:type="dcterms:W3CDTF">2024-07-04T02:36:32Z</dcterms:created>
  <dcterms:modified xsi:type="dcterms:W3CDTF">2025-11-02T09:11:16Z</dcterms:modified>
</cp:coreProperties>
</file>